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modernComment_10E_B13F7314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68" r:id="rId3"/>
    <p:sldId id="283" r:id="rId4"/>
    <p:sldId id="287" r:id="rId5"/>
    <p:sldId id="286" r:id="rId6"/>
    <p:sldId id="288" r:id="rId7"/>
    <p:sldId id="289" r:id="rId8"/>
    <p:sldId id="290" r:id="rId9"/>
    <p:sldId id="291" r:id="rId10"/>
    <p:sldId id="270" r:id="rId11"/>
    <p:sldId id="271" r:id="rId12"/>
    <p:sldId id="273" r:id="rId13"/>
    <p:sldId id="274" r:id="rId14"/>
    <p:sldId id="275" r:id="rId15"/>
    <p:sldId id="272" r:id="rId16"/>
    <p:sldId id="277" r:id="rId17"/>
    <p:sldId id="280" r:id="rId18"/>
    <p:sldId id="281" r:id="rId19"/>
    <p:sldId id="278" r:id="rId20"/>
    <p:sldId id="285" r:id="rId21"/>
    <p:sldId id="279" r:id="rId22"/>
    <p:sldId id="282" r:id="rId23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C4BD38D-2624-920A-1536-8B682A2C7654}" name="david forro" initials="df" userId="197c7bdfcd0b421b" providerId="Windows Live"/>
  <p188:author id="{1C92DB8F-2384-763B-4781-B35F5A5A6DA2}" name="Krajcsovics Christofer" initials="KC" userId="e39b2d60cb0879cf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564" autoAdjust="0"/>
    <p:restoredTop sz="96928"/>
  </p:normalViewPr>
  <p:slideViewPr>
    <p:cSldViewPr snapToGrid="0">
      <p:cViewPr varScale="1">
        <p:scale>
          <a:sx n="123" d="100"/>
          <a:sy n="123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microsoft.com/office/2018/10/relationships/authors" Target="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omments/modernComment_10E_B13F731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371C426-DC8A-FC46-9EEB-AEF47A100E89}" authorId="{5C4BD38D-2624-920A-1536-8B682A2C7654}" created="2026-02-15T18:55:15.297">
    <pc:sldMkLst xmlns:pc="http://schemas.microsoft.com/office/powerpoint/2013/main/command">
      <pc:docMk/>
      <pc:sldMk cId="2973725460" sldId="270"/>
    </pc:sldMkLst>
    <p188:txBody>
      <a:bodyPr/>
      <a:lstStyle/>
      <a:p>
        <a:r>
          <a:rPr lang="en-SK"/>
          <a:t>„Az engedélyezés az AAA modell része, amely három elemből áll: hitelesítés, engedélyezés és naplózás.
Az AAA rendszer a hitelesítés után meghatározza a hozzáférési szintet, majd érvényesíti a biztonsági szabályokat.”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7C96D13-648C-78A7-A51E-14EB7DB0E0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3275785C-3F41-3244-3736-AD49973A78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DB25B139-9525-1BB3-3B74-A8058FEBF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4852A-C9E7-4930-A9DD-789E2925163B}" type="datetimeFigureOut">
              <a:rPr lang="hu-HU" smtClean="0"/>
              <a:t>2026. 02. 17.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45F329B2-5CF3-E292-4362-97EFB65D0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3F2A78B4-5872-E223-1459-F7D332107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4CF18-5C01-458E-ADE6-0525ED9011E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537846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F06230A-C505-ACBA-5249-3E7311CB1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FC640B3-AB4B-D10A-4B07-455862A2F7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FA3E6DBF-7B70-72EB-FD55-3AC253F5D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4852A-C9E7-4930-A9DD-789E2925163B}" type="datetimeFigureOut">
              <a:rPr lang="hu-HU" smtClean="0"/>
              <a:t>2026. 02. 17.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A86FA947-90C2-A7AE-D571-0479E2E3C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D99F6716-2700-1637-3B8D-A2A63CC7B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4CF18-5C01-458E-ADE6-0525ED9011E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783996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C911AF7-F733-A089-70B5-E30CF18DF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A82D3C1C-54FA-894F-BB95-CF5C3A485B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AFB7A30E-B37D-5695-687D-78530D84B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4852A-C9E7-4930-A9DD-789E2925163B}" type="datetimeFigureOut">
              <a:rPr lang="hu-HU" smtClean="0"/>
              <a:t>2026. 02. 17.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D7D4DC7A-1764-F6F5-C16E-E27508D6C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A977A229-2804-3B95-A71C-F7386FFDD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4CF18-5C01-458E-ADE6-0525ED9011E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3054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5889C6E-7DE4-867D-F263-56C6367C6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5B750BC-F54C-BBC3-6B46-72D5251140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28C3DC5B-4E49-F4A5-4D33-F6A652ABEC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606D0FDF-6FA3-A06B-7E5C-1A76E2F3B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4852A-C9E7-4930-A9DD-789E2925163B}" type="datetimeFigureOut">
              <a:rPr lang="hu-HU" smtClean="0"/>
              <a:t>2026. 02. 17.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1BCEF18E-91E8-BAB6-5593-176E015C8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984DC72E-88C8-A2CD-AB74-1C2A5A8E4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4CF18-5C01-458E-ADE6-0525ED9011E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419297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A59DB7F-0100-683B-3493-F36FB1B2A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AA62EE29-9E35-2AA1-7399-15E922F962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14136E9D-E1A3-FC8F-01D7-26840CEA69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E6E3D3E2-8FE1-7830-FA35-9867AAD2AC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1B64FEA1-730A-EEC3-3AAA-EF6AAA0F0D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20CB4E3F-9440-F321-F515-E458B2373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4852A-C9E7-4930-A9DD-789E2925163B}" type="datetimeFigureOut">
              <a:rPr lang="hu-HU" smtClean="0"/>
              <a:t>2026. 02. 17.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29C33E84-8C8B-6ED8-0333-B929E8C5B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1416CD5C-D28D-C6C1-2112-966E201CF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4CF18-5C01-458E-ADE6-0525ED9011E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201275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077E247-A103-B00B-9AB3-5AFB6D700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A76EF2C6-8E4C-0B26-8064-C706124AD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4852A-C9E7-4930-A9DD-789E2925163B}" type="datetimeFigureOut">
              <a:rPr lang="hu-HU" smtClean="0"/>
              <a:t>2026. 02. 17.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27540567-E925-70EB-22FB-C46881E2D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9B98158C-CDD9-9555-26CA-9EF354287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4CF18-5C01-458E-ADE6-0525ED9011E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291334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33697797-97D2-8E34-E9D5-2CF23A762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4852A-C9E7-4930-A9DD-789E2925163B}" type="datetimeFigureOut">
              <a:rPr lang="hu-HU" smtClean="0"/>
              <a:t>2026. 02. 17.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C1170760-D001-1D52-60F4-F3F2D52E4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6D0F703C-FD11-05E1-275B-30B54B50B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4CF18-5C01-458E-ADE6-0525ED9011E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010982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2DD9980-58F1-7C69-F3E7-7B3ACDF87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DBF07CA-4A24-BF16-658F-6F55451020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F10B142E-7151-994D-FFF8-FDC9A11681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9B254A1D-8C0E-E2C4-0630-21FF9460F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4852A-C9E7-4930-A9DD-789E2925163B}" type="datetimeFigureOut">
              <a:rPr lang="hu-HU" smtClean="0"/>
              <a:t>2026. 02. 17.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5BB7FD80-CD5A-3812-A381-40CEDD75F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A5E49D1C-99A7-9D29-9106-1FDC99A7C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4CF18-5C01-458E-ADE6-0525ED9011E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323716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50CA95B-AE18-E11F-DA18-14E2D8BC7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6941256B-ECDE-EBB1-F6B5-850589442B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C1D521DC-4209-5130-D811-BD97205CCC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C8C57D58-3C94-ACEA-6ACB-4E5B7D25C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4852A-C9E7-4930-A9DD-789E2925163B}" type="datetimeFigureOut">
              <a:rPr lang="hu-HU" smtClean="0"/>
              <a:t>2026. 02. 17.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849C37F0-C7E1-69B0-3C80-741878A61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36B7C14A-FD91-124C-96ED-F39BFE68F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4CF18-5C01-458E-ADE6-0525ED9011E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26821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CD6F207-EAB7-372E-4A45-6D87B4EDB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F782D2C1-E1D5-1879-E82D-559DCF9FC1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D9E9FB08-B9FA-FC1C-4409-3180FD67E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4852A-C9E7-4930-A9DD-789E2925163B}" type="datetimeFigureOut">
              <a:rPr lang="hu-HU" smtClean="0"/>
              <a:t>2026. 02. 17.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DC5D5E20-AAD4-3732-EB4D-CA0AB30AA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C25036E2-C706-508C-D7F4-B73A079EB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4CF18-5C01-458E-ADE6-0525ED9011E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554724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464596F7-CE3E-F146-F53B-31BD7B3294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3CFC2896-4DF3-FC2D-959C-3768E2B024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5EF22F65-4117-38A7-36A4-13490071D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4852A-C9E7-4930-A9DD-789E2925163B}" type="datetimeFigureOut">
              <a:rPr lang="hu-HU" smtClean="0"/>
              <a:t>2026. 02. 17.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5F89E64E-7E78-A9B3-4D77-384BDA639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F4FBA943-F96F-ED6A-50FD-4D12C1D11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4CF18-5C01-458E-ADE6-0525ED9011E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7785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73000"/>
                <a:alpha val="93495"/>
              </a:schemeClr>
            </a:gs>
            <a:gs pos="29000">
              <a:schemeClr val="accent4">
                <a:alpha val="92518"/>
                <a:lumMod val="90077"/>
              </a:schemeClr>
            </a:gs>
            <a:gs pos="61000">
              <a:schemeClr val="accent4">
                <a:lumMod val="85000"/>
                <a:lumOff val="15000"/>
              </a:schemeClr>
            </a:gs>
            <a:gs pos="80000">
              <a:schemeClr val="accent4">
                <a:lumMod val="75000"/>
                <a:lumOff val="25000"/>
              </a:schemeClr>
            </a:gs>
            <a:gs pos="93000">
              <a:schemeClr val="accent4">
                <a:lumMod val="42000"/>
                <a:lumOff val="58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58917C09-7B94-B43B-15E8-4B777267B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28A44851-B356-30AE-9BA2-0E5B0D10B4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1C04B7B5-83A7-F31C-18C1-63704D520A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E4852A-C9E7-4930-A9DD-789E2925163B}" type="datetimeFigureOut">
              <a:rPr lang="hu-HU" smtClean="0"/>
              <a:t>2026. 02. 17.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222F7DA6-18A8-6D3F-00A9-DCDBFCD04F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36A7AF5C-CA1A-7111-EAB0-7F361B7895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A4CF18-5C01-458E-ADE6-0525ED9011E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00649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microsoft.com/office/2018/10/relationships/comments" Target="../comments/modernComment_10E_B13F7314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lenovo.com/us/en/glossary/aaa/" TargetMode="External"/><Relationship Id="rId13" Type="http://schemas.openxmlformats.org/officeDocument/2006/relationships/hyperlink" Target="https://www.wallarm.com/what/radius-remote-authentication-dial-in-user-service-protocol" TargetMode="External"/><Relationship Id="rId3" Type="http://schemas.openxmlformats.org/officeDocument/2006/relationships/hyperlink" Target="https://noreg.hu/megoldasaink/azonositas-es-jogosultsag-kezeles-9" TargetMode="External"/><Relationship Id="rId7" Type="http://schemas.openxmlformats.org/officeDocument/2006/relationships/hyperlink" Target="https://en.wikipedia.org/wiki/Authorization" TargetMode="External"/><Relationship Id="rId12" Type="http://schemas.openxmlformats.org/officeDocument/2006/relationships/hyperlink" Target="https://www.wiresandwi.fi/blog/solid-config-cisco-aaa-tacacs-and-password-best-practices" TargetMode="External"/><Relationship Id="rId2" Type="http://schemas.openxmlformats.org/officeDocument/2006/relationships/hyperlink" Target="https://www.tmit.bme.hu/sites/default/files/RelNetik_20180918_InfSecurity.pdf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community.cisco.com/t5/networking-blogs/what-is-aaa-authentication-authorization-and-accounting/ba-p/5138307" TargetMode="External"/><Relationship Id="rId11" Type="http://schemas.openxmlformats.org/officeDocument/2006/relationships/hyperlink" Target="https://nordlayer.com/blog/the-role-of-access-control-lists/" TargetMode="External"/><Relationship Id="rId5" Type="http://schemas.openxmlformats.org/officeDocument/2006/relationships/hyperlink" Target="https://www.strongdm.com/blog/aaa-security" TargetMode="External"/><Relationship Id="rId10" Type="http://schemas.openxmlformats.org/officeDocument/2006/relationships/hyperlink" Target="https://securiti.ai/glossary/aaa-server/" TargetMode="External"/><Relationship Id="rId4" Type="http://schemas.openxmlformats.org/officeDocument/2006/relationships/hyperlink" Target="https://www.fortinet.com/resources/cyberglossary/aaa-security" TargetMode="External"/><Relationship Id="rId9" Type="http://schemas.openxmlformats.org/officeDocument/2006/relationships/hyperlink" Target="https://www.geeksforgeeks.org/computer-networks/computer-network-aaa-authentication-authorization-and-accountin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C62B898-0043-5C8D-21F1-68B7C912EF49}"/>
              </a:ext>
            </a:extLst>
          </p:cNvPr>
          <p:cNvSpPr txBox="1"/>
          <p:nvPr/>
        </p:nvSpPr>
        <p:spPr>
          <a:xfrm>
            <a:off x="733839" y="2052024"/>
            <a:ext cx="10724322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54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AAA</a:t>
            </a:r>
            <a:br>
              <a:rPr lang="en-GB" sz="4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32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Authentication, authorization, and accounting</a:t>
            </a:r>
            <a:endParaRPr lang="en-GB" sz="4800" b="0" i="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144070-2ECF-2240-169C-2E4020389D0C}"/>
              </a:ext>
            </a:extLst>
          </p:cNvPr>
          <p:cNvSpPr txBox="1"/>
          <p:nvPr/>
        </p:nvSpPr>
        <p:spPr>
          <a:xfrm>
            <a:off x="3248439" y="3482538"/>
            <a:ext cx="56951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K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Botló Bence Balázs, Forró David, Krajcsovics Christofer</a:t>
            </a:r>
          </a:p>
        </p:txBody>
      </p:sp>
    </p:spTree>
    <p:extLst>
      <p:ext uri="{BB962C8B-B14F-4D97-AF65-F5344CB8AC3E}">
        <p14:creationId xmlns:p14="http://schemas.microsoft.com/office/powerpoint/2010/main" val="11996254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23080E1-A752-FB40-EAAD-742193F5E35D}"/>
              </a:ext>
            </a:extLst>
          </p:cNvPr>
          <p:cNvSpPr txBox="1"/>
          <p:nvPr/>
        </p:nvSpPr>
        <p:spPr>
          <a:xfrm>
            <a:off x="470263" y="423754"/>
            <a:ext cx="24556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K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 az AAA?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6E81C3E-868D-99AE-35B7-7201C3EA137C}"/>
              </a:ext>
            </a:extLst>
          </p:cNvPr>
          <p:cNvSpPr/>
          <p:nvPr/>
        </p:nvSpPr>
        <p:spPr>
          <a:xfrm>
            <a:off x="470263" y="1008529"/>
            <a:ext cx="3561805" cy="1260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K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38561A-B5AD-8907-C40A-9F3955A53EAF}"/>
              </a:ext>
            </a:extLst>
          </p:cNvPr>
          <p:cNvSpPr txBox="1"/>
          <p:nvPr/>
        </p:nvSpPr>
        <p:spPr>
          <a:xfrm>
            <a:off x="401723" y="1283067"/>
            <a:ext cx="4650377" cy="49398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SK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Biztonsági keretrendszer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SK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SK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K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Hozzáférés szabályozási modell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SK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SK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K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fő komponense: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sk-SK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Azonosítás</a:t>
            </a:r>
            <a:r>
              <a:rPr lang="en-SK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(Authentication)</a:t>
            </a:r>
            <a:br>
              <a:rPr lang="en-SK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SK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 érheti el az információt?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SK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Jogosultságkezelés (Authorization)</a:t>
            </a:r>
            <a:br>
              <a:rPr lang="en-SK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SK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Milyen információ érhető el?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SK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Naplózás (Accounting)</a:t>
            </a:r>
            <a:br>
              <a:rPr lang="en-SK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SK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Milyen információ van elérve?</a:t>
            </a:r>
          </a:p>
          <a:p>
            <a:endParaRPr lang="en-SK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K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Válalati hálózatok alapja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AE03986-7136-6B8B-D347-C401F28892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4572" y="2844681"/>
            <a:ext cx="3378200" cy="33782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4A2F650-7D4F-FEAF-26AA-26E8ECB765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5199" y="423754"/>
            <a:ext cx="1587500" cy="18288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E5DA16BB-27E1-70FD-BA32-1BFC86573D5C}"/>
              </a:ext>
            </a:extLst>
          </p:cNvPr>
          <p:cNvSpPr txBox="1"/>
          <p:nvPr/>
        </p:nvSpPr>
        <p:spPr>
          <a:xfrm>
            <a:off x="4945199" y="2214853"/>
            <a:ext cx="15762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K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</a:t>
            </a:r>
            <a:endParaRPr lang="en-SK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6B6FB021-E648-EC50-C999-13C947E199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9859" y="455504"/>
            <a:ext cx="1536700" cy="176530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202CB6B0-77A8-630F-3494-46ECA9D1C793}"/>
              </a:ext>
            </a:extLst>
          </p:cNvPr>
          <p:cNvSpPr txBox="1"/>
          <p:nvPr/>
        </p:nvSpPr>
        <p:spPr>
          <a:xfrm>
            <a:off x="7139901" y="2180614"/>
            <a:ext cx="156754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K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Authorization</a:t>
            </a:r>
            <a:endParaRPr lang="en-SK" sz="16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1902087D-F8C9-FD84-AF83-2A312742BB7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4646" y="390230"/>
            <a:ext cx="1536700" cy="1828800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2B1EB57E-302F-A42A-DADF-82485EFD6019}"/>
              </a:ext>
            </a:extLst>
          </p:cNvPr>
          <p:cNvSpPr txBox="1"/>
          <p:nvPr/>
        </p:nvSpPr>
        <p:spPr>
          <a:xfrm>
            <a:off x="9299224" y="2178883"/>
            <a:ext cx="156754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K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Accounting</a:t>
            </a:r>
            <a:endParaRPr lang="en-SK" sz="1600" dirty="0"/>
          </a:p>
        </p:txBody>
      </p:sp>
    </p:spTree>
    <p:extLst>
      <p:ext uri="{BB962C8B-B14F-4D97-AF65-F5344CB8AC3E}">
        <p14:creationId xmlns:p14="http://schemas.microsoft.com/office/powerpoint/2010/main" val="3010632954"/>
      </p:ext>
    </p:extLst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00CD9D4-E055-0156-AE3F-ADC487A7063F}"/>
              </a:ext>
            </a:extLst>
          </p:cNvPr>
          <p:cNvSpPr txBox="1"/>
          <p:nvPr/>
        </p:nvSpPr>
        <p:spPr>
          <a:xfrm>
            <a:off x="554106" y="431560"/>
            <a:ext cx="745307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4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</a:t>
            </a:r>
            <a:r>
              <a:rPr lang="hu-HU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Azonosítás</a:t>
            </a:r>
            <a:endParaRPr lang="en-SK" sz="4400" dirty="0">
              <a:solidFill>
                <a:schemeClr val="bg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29ECFE-8918-CC38-0922-3B3D2D0F736B}"/>
              </a:ext>
            </a:extLst>
          </p:cNvPr>
          <p:cNvSpPr/>
          <p:nvPr/>
        </p:nvSpPr>
        <p:spPr>
          <a:xfrm>
            <a:off x="554107" y="1201001"/>
            <a:ext cx="6900242" cy="1308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K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9799E0-F98B-4E6D-7B7F-7147A3E130BA}"/>
              </a:ext>
            </a:extLst>
          </p:cNvPr>
          <p:cNvSpPr txBox="1"/>
          <p:nvPr/>
        </p:nvSpPr>
        <p:spPr>
          <a:xfrm>
            <a:off x="554107" y="2361049"/>
            <a:ext cx="8132693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Identit</a:t>
            </a:r>
            <a:r>
              <a:rPr lang="sk-SK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ás</a:t>
            </a:r>
            <a:r>
              <a:rPr lang="sk-SK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k-SK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azonosítása</a:t>
            </a:r>
            <a:endParaRPr lang="sk-SK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sk-SK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Azonosítás – Ki vagy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sk-SK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sk-SK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k-SK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Azonosítás</a:t>
            </a:r>
            <a:r>
              <a:rPr lang="sk-SK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k-SK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hibás</a:t>
            </a:r>
            <a:r>
              <a:rPr lang="sk-SK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sk-SK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többi</a:t>
            </a:r>
            <a:r>
              <a:rPr lang="sk-SK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k-SK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réteg</a:t>
            </a:r>
            <a:r>
              <a:rPr lang="sk-SK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k-SK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értelmét</a:t>
            </a:r>
            <a:r>
              <a:rPr lang="sk-SK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k-SK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veszti</a:t>
            </a:r>
            <a:r>
              <a:rPr lang="sk-SK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sk-SK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783316-A29D-1D1A-441F-5F6464542A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92237" y="226905"/>
            <a:ext cx="1532378" cy="17653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ABC4547-8DFF-4F4F-F228-34D8BE8C72B8}"/>
              </a:ext>
            </a:extLst>
          </p:cNvPr>
          <p:cNvSpPr txBox="1"/>
          <p:nvPr/>
        </p:nvSpPr>
        <p:spPr>
          <a:xfrm>
            <a:off x="10392237" y="1992205"/>
            <a:ext cx="156754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K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</a:t>
            </a:r>
            <a:endParaRPr lang="en-SK" sz="1600" dirty="0"/>
          </a:p>
        </p:txBody>
      </p:sp>
    </p:spTree>
    <p:extLst>
      <p:ext uri="{BB962C8B-B14F-4D97-AF65-F5344CB8AC3E}">
        <p14:creationId xmlns:p14="http://schemas.microsoft.com/office/powerpoint/2010/main" val="2455222767"/>
      </p:ext>
    </p:extLst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00CD9D4-E055-0156-AE3F-ADC487A7063F}"/>
              </a:ext>
            </a:extLst>
          </p:cNvPr>
          <p:cNvSpPr txBox="1"/>
          <p:nvPr/>
        </p:nvSpPr>
        <p:spPr>
          <a:xfrm>
            <a:off x="554106" y="431560"/>
            <a:ext cx="745307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Azonosítási módszerek</a:t>
            </a:r>
            <a:endParaRPr lang="en-SK" sz="4400" dirty="0">
              <a:solidFill>
                <a:schemeClr val="bg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29ECFE-8918-CC38-0922-3B3D2D0F736B}"/>
              </a:ext>
            </a:extLst>
          </p:cNvPr>
          <p:cNvSpPr/>
          <p:nvPr/>
        </p:nvSpPr>
        <p:spPr>
          <a:xfrm>
            <a:off x="554107" y="1201001"/>
            <a:ext cx="6900242" cy="1308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K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9799E0-F98B-4E6D-7B7F-7147A3E130BA}"/>
              </a:ext>
            </a:extLst>
          </p:cNvPr>
          <p:cNvSpPr txBox="1"/>
          <p:nvPr/>
        </p:nvSpPr>
        <p:spPr>
          <a:xfrm>
            <a:off x="554107" y="2361049"/>
            <a:ext cx="8132693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Jelszó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Tanusítvány</a:t>
            </a:r>
            <a:endParaRPr lang="hu-HU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Egyszer használatos jelszavak OTP – HOTP, TOTP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Biometrikus</a:t>
            </a:r>
            <a:r>
              <a:rPr lang="hu-HU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azonosítás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783316-A29D-1D1A-441F-5F6464542A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92237" y="226905"/>
            <a:ext cx="1532378" cy="17653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ABC4547-8DFF-4F4F-F228-34D8BE8C72B8}"/>
              </a:ext>
            </a:extLst>
          </p:cNvPr>
          <p:cNvSpPr txBox="1"/>
          <p:nvPr/>
        </p:nvSpPr>
        <p:spPr>
          <a:xfrm>
            <a:off x="10392237" y="1992205"/>
            <a:ext cx="156754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K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</a:t>
            </a:r>
            <a:endParaRPr lang="en-SK" sz="1600" dirty="0"/>
          </a:p>
        </p:txBody>
      </p:sp>
    </p:spTree>
    <p:extLst>
      <p:ext uri="{BB962C8B-B14F-4D97-AF65-F5344CB8AC3E}">
        <p14:creationId xmlns:p14="http://schemas.microsoft.com/office/powerpoint/2010/main" val="1538641141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00CD9D4-E055-0156-AE3F-ADC487A7063F}"/>
              </a:ext>
            </a:extLst>
          </p:cNvPr>
          <p:cNvSpPr txBox="1"/>
          <p:nvPr/>
        </p:nvSpPr>
        <p:spPr>
          <a:xfrm>
            <a:off x="554106" y="431560"/>
            <a:ext cx="745307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k-SK" sz="4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Azonosítási</a:t>
            </a:r>
            <a:r>
              <a:rPr lang="sk-SK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k-SK" sz="4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faktorok</a:t>
            </a:r>
            <a:endParaRPr lang="en-SK" sz="4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29ECFE-8918-CC38-0922-3B3D2D0F736B}"/>
              </a:ext>
            </a:extLst>
          </p:cNvPr>
          <p:cNvSpPr/>
          <p:nvPr/>
        </p:nvSpPr>
        <p:spPr>
          <a:xfrm>
            <a:off x="554107" y="1201001"/>
            <a:ext cx="6900242" cy="1308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K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9799E0-F98B-4E6D-7B7F-7147A3E130BA}"/>
              </a:ext>
            </a:extLst>
          </p:cNvPr>
          <p:cNvSpPr txBox="1"/>
          <p:nvPr/>
        </p:nvSpPr>
        <p:spPr>
          <a:xfrm>
            <a:off x="554107" y="2361049"/>
            <a:ext cx="8132693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SFA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2FA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MFA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</a:t>
            </a:r>
            <a:r>
              <a:rPr lang="sk-SK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ért</a:t>
            </a:r>
            <a:r>
              <a:rPr lang="sk-SK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hu-HU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783316-A29D-1D1A-441F-5F6464542A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92237" y="226905"/>
            <a:ext cx="1532378" cy="17653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ABC4547-8DFF-4F4F-F228-34D8BE8C72B8}"/>
              </a:ext>
            </a:extLst>
          </p:cNvPr>
          <p:cNvSpPr txBox="1"/>
          <p:nvPr/>
        </p:nvSpPr>
        <p:spPr>
          <a:xfrm>
            <a:off x="10392237" y="1992205"/>
            <a:ext cx="156754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K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</a:t>
            </a:r>
            <a:endParaRPr lang="en-SK" sz="1600" dirty="0"/>
          </a:p>
        </p:txBody>
      </p:sp>
    </p:spTree>
    <p:extLst>
      <p:ext uri="{BB962C8B-B14F-4D97-AF65-F5344CB8AC3E}">
        <p14:creationId xmlns:p14="http://schemas.microsoft.com/office/powerpoint/2010/main" val="3409676117"/>
      </p:ext>
    </p:extLst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00CD9D4-E055-0156-AE3F-ADC487A7063F}"/>
              </a:ext>
            </a:extLst>
          </p:cNvPr>
          <p:cNvSpPr txBox="1"/>
          <p:nvPr/>
        </p:nvSpPr>
        <p:spPr>
          <a:xfrm>
            <a:off x="554106" y="431560"/>
            <a:ext cx="745307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Protokollok</a:t>
            </a:r>
            <a:endParaRPr lang="en-SK" sz="4400" dirty="0">
              <a:solidFill>
                <a:schemeClr val="bg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29ECFE-8918-CC38-0922-3B3D2D0F736B}"/>
              </a:ext>
            </a:extLst>
          </p:cNvPr>
          <p:cNvSpPr/>
          <p:nvPr/>
        </p:nvSpPr>
        <p:spPr>
          <a:xfrm>
            <a:off x="554107" y="1201001"/>
            <a:ext cx="6900242" cy="1308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K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9799E0-F98B-4E6D-7B7F-7147A3E130BA}"/>
              </a:ext>
            </a:extLst>
          </p:cNvPr>
          <p:cNvSpPr txBox="1"/>
          <p:nvPr/>
        </p:nvSpPr>
        <p:spPr>
          <a:xfrm>
            <a:off x="554107" y="2361049"/>
            <a:ext cx="8132693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RADIUS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Kerberos</a:t>
            </a:r>
            <a:endParaRPr lang="hu-HU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LDAP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783316-A29D-1D1A-441F-5F6464542A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92237" y="226905"/>
            <a:ext cx="1532378" cy="17653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ABC4547-8DFF-4F4F-F228-34D8BE8C72B8}"/>
              </a:ext>
            </a:extLst>
          </p:cNvPr>
          <p:cNvSpPr txBox="1"/>
          <p:nvPr/>
        </p:nvSpPr>
        <p:spPr>
          <a:xfrm>
            <a:off x="10392237" y="1992205"/>
            <a:ext cx="156754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K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</a:t>
            </a:r>
            <a:endParaRPr lang="en-SK" sz="1600" dirty="0"/>
          </a:p>
        </p:txBody>
      </p:sp>
    </p:spTree>
    <p:extLst>
      <p:ext uri="{BB962C8B-B14F-4D97-AF65-F5344CB8AC3E}">
        <p14:creationId xmlns:p14="http://schemas.microsoft.com/office/powerpoint/2010/main" val="3274461749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00CD9D4-E055-0156-AE3F-ADC487A7063F}"/>
              </a:ext>
            </a:extLst>
          </p:cNvPr>
          <p:cNvSpPr txBox="1"/>
          <p:nvPr/>
        </p:nvSpPr>
        <p:spPr>
          <a:xfrm>
            <a:off x="554106" y="431560"/>
            <a:ext cx="745307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Támadás</a:t>
            </a:r>
            <a:endParaRPr lang="en-SK" sz="4400" dirty="0">
              <a:solidFill>
                <a:schemeClr val="bg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29ECFE-8918-CC38-0922-3B3D2D0F736B}"/>
              </a:ext>
            </a:extLst>
          </p:cNvPr>
          <p:cNvSpPr/>
          <p:nvPr/>
        </p:nvSpPr>
        <p:spPr>
          <a:xfrm>
            <a:off x="554107" y="1201001"/>
            <a:ext cx="6900242" cy="1308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K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9799E0-F98B-4E6D-7B7F-7147A3E130BA}"/>
              </a:ext>
            </a:extLst>
          </p:cNvPr>
          <p:cNvSpPr txBox="1"/>
          <p:nvPr/>
        </p:nvSpPr>
        <p:spPr>
          <a:xfrm>
            <a:off x="554107" y="2361049"/>
            <a:ext cx="8132693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Brute</a:t>
            </a:r>
            <a:r>
              <a:rPr lang="hu-HU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force</a:t>
            </a:r>
            <a:endParaRPr lang="hu-HU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Credential</a:t>
            </a:r>
            <a:r>
              <a:rPr lang="hu-HU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stuffing</a:t>
            </a:r>
            <a:endParaRPr lang="hu-HU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Phishing</a:t>
            </a:r>
            <a:endParaRPr lang="hu-HU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Keylogging</a:t>
            </a:r>
            <a:endParaRPr lang="hu-HU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Replay</a:t>
            </a:r>
            <a:r>
              <a:rPr lang="hu-HU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attack</a:t>
            </a:r>
            <a:endParaRPr lang="hu-HU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783316-A29D-1D1A-441F-5F6464542A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92237" y="226905"/>
            <a:ext cx="1532378" cy="17653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ABC4547-8DFF-4F4F-F228-34D8BE8C72B8}"/>
              </a:ext>
            </a:extLst>
          </p:cNvPr>
          <p:cNvSpPr txBox="1"/>
          <p:nvPr/>
        </p:nvSpPr>
        <p:spPr>
          <a:xfrm>
            <a:off x="10392237" y="1992205"/>
            <a:ext cx="156754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K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</a:t>
            </a:r>
            <a:endParaRPr lang="en-SK" sz="1600" dirty="0"/>
          </a:p>
        </p:txBody>
      </p:sp>
    </p:spTree>
    <p:extLst>
      <p:ext uri="{BB962C8B-B14F-4D97-AF65-F5344CB8AC3E}">
        <p14:creationId xmlns:p14="http://schemas.microsoft.com/office/powerpoint/2010/main" val="4094998434"/>
      </p:ext>
    </p:extLst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00CD9D4-E055-0156-AE3F-ADC487A7063F}"/>
              </a:ext>
            </a:extLst>
          </p:cNvPr>
          <p:cNvSpPr txBox="1"/>
          <p:nvPr/>
        </p:nvSpPr>
        <p:spPr>
          <a:xfrm>
            <a:off x="554106" y="431560"/>
            <a:ext cx="745307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Védelem</a:t>
            </a:r>
            <a:endParaRPr lang="en-SK" sz="4400" dirty="0">
              <a:solidFill>
                <a:schemeClr val="bg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29ECFE-8918-CC38-0922-3B3D2D0F736B}"/>
              </a:ext>
            </a:extLst>
          </p:cNvPr>
          <p:cNvSpPr/>
          <p:nvPr/>
        </p:nvSpPr>
        <p:spPr>
          <a:xfrm>
            <a:off x="554107" y="1201001"/>
            <a:ext cx="6900242" cy="1308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K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9799E0-F98B-4E6D-7B7F-7147A3E130BA}"/>
              </a:ext>
            </a:extLst>
          </p:cNvPr>
          <p:cNvSpPr txBox="1"/>
          <p:nvPr/>
        </p:nvSpPr>
        <p:spPr>
          <a:xfrm>
            <a:off x="554107" y="2361049"/>
            <a:ext cx="8132693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MFA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Rate</a:t>
            </a:r>
            <a:r>
              <a:rPr lang="hu-HU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limiting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Fiókzárolás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Digitális tudatosság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783316-A29D-1D1A-441F-5F6464542A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92237" y="226905"/>
            <a:ext cx="1532378" cy="17653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ABC4547-8DFF-4F4F-F228-34D8BE8C72B8}"/>
              </a:ext>
            </a:extLst>
          </p:cNvPr>
          <p:cNvSpPr txBox="1"/>
          <p:nvPr/>
        </p:nvSpPr>
        <p:spPr>
          <a:xfrm>
            <a:off x="10392237" y="1992205"/>
            <a:ext cx="156754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K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</a:t>
            </a:r>
            <a:endParaRPr lang="en-SK" sz="1600" dirty="0"/>
          </a:p>
        </p:txBody>
      </p:sp>
    </p:spTree>
    <p:extLst>
      <p:ext uri="{BB962C8B-B14F-4D97-AF65-F5344CB8AC3E}">
        <p14:creationId xmlns:p14="http://schemas.microsoft.com/office/powerpoint/2010/main" val="637182979"/>
      </p:ext>
    </p:extLst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00CD9D4-E055-0156-AE3F-ADC487A7063F}"/>
              </a:ext>
            </a:extLst>
          </p:cNvPr>
          <p:cNvSpPr txBox="1"/>
          <p:nvPr/>
        </p:nvSpPr>
        <p:spPr>
          <a:xfrm>
            <a:off x="554106" y="431560"/>
            <a:ext cx="745307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Jelszókezelés</a:t>
            </a:r>
            <a:endParaRPr lang="en-SK" sz="4400" dirty="0">
              <a:solidFill>
                <a:schemeClr val="bg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29ECFE-8918-CC38-0922-3B3D2D0F736B}"/>
              </a:ext>
            </a:extLst>
          </p:cNvPr>
          <p:cNvSpPr/>
          <p:nvPr/>
        </p:nvSpPr>
        <p:spPr>
          <a:xfrm>
            <a:off x="554107" y="1201001"/>
            <a:ext cx="6900242" cy="1308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K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9799E0-F98B-4E6D-7B7F-7147A3E130BA}"/>
              </a:ext>
            </a:extLst>
          </p:cNvPr>
          <p:cNvSpPr txBox="1"/>
          <p:nvPr/>
        </p:nvSpPr>
        <p:spPr>
          <a:xfrm>
            <a:off x="554107" y="2361049"/>
            <a:ext cx="8132693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Hosszúság, bonyolultság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Jelszómenedzser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Jelszó ismétlés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Hashelés</a:t>
            </a:r>
            <a:endParaRPr lang="hu-HU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783316-A29D-1D1A-441F-5F6464542A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92237" y="226905"/>
            <a:ext cx="1532378" cy="17653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ABC4547-8DFF-4F4F-F228-34D8BE8C72B8}"/>
              </a:ext>
            </a:extLst>
          </p:cNvPr>
          <p:cNvSpPr txBox="1"/>
          <p:nvPr/>
        </p:nvSpPr>
        <p:spPr>
          <a:xfrm>
            <a:off x="10392237" y="1992205"/>
            <a:ext cx="156754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K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</a:t>
            </a:r>
            <a:endParaRPr lang="en-SK" sz="1600" dirty="0"/>
          </a:p>
        </p:txBody>
      </p:sp>
    </p:spTree>
    <p:extLst>
      <p:ext uri="{BB962C8B-B14F-4D97-AF65-F5344CB8AC3E}">
        <p14:creationId xmlns:p14="http://schemas.microsoft.com/office/powerpoint/2010/main" val="3314768249"/>
      </p:ext>
    </p:extLst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00CD9D4-E055-0156-AE3F-ADC487A7063F}"/>
              </a:ext>
            </a:extLst>
          </p:cNvPr>
          <p:cNvSpPr txBox="1"/>
          <p:nvPr/>
        </p:nvSpPr>
        <p:spPr>
          <a:xfrm>
            <a:off x="554107" y="431560"/>
            <a:ext cx="690024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4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Authorization</a:t>
            </a:r>
            <a:r>
              <a:rPr lang="hu-HU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(Engedélyezés)</a:t>
            </a:r>
            <a:endParaRPr lang="en-SK" sz="4400" dirty="0">
              <a:solidFill>
                <a:schemeClr val="bg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29ECFE-8918-CC38-0922-3B3D2D0F736B}"/>
              </a:ext>
            </a:extLst>
          </p:cNvPr>
          <p:cNvSpPr/>
          <p:nvPr/>
        </p:nvSpPr>
        <p:spPr>
          <a:xfrm>
            <a:off x="554107" y="1201001"/>
            <a:ext cx="6900242" cy="1308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K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9799E0-F98B-4E6D-7B7F-7147A3E130BA}"/>
              </a:ext>
            </a:extLst>
          </p:cNvPr>
          <p:cNvSpPr txBox="1"/>
          <p:nvPr/>
        </p:nvSpPr>
        <p:spPr>
          <a:xfrm>
            <a:off x="554107" y="2361049"/>
            <a:ext cx="8132693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Információbiztonság és IAM alapfogalma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hitelesítés után következő folyamat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Meghatározza: mit tehet a felhasználó a rendszerben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783316-A29D-1D1A-441F-5F6464542A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0076" y="226905"/>
            <a:ext cx="1536700" cy="17653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ABC4547-8DFF-4F4F-F228-34D8BE8C72B8}"/>
              </a:ext>
            </a:extLst>
          </p:cNvPr>
          <p:cNvSpPr txBox="1"/>
          <p:nvPr/>
        </p:nvSpPr>
        <p:spPr>
          <a:xfrm>
            <a:off x="10370118" y="1952015"/>
            <a:ext cx="156754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K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Authorization</a:t>
            </a:r>
            <a:endParaRPr lang="en-SK" sz="1600" dirty="0"/>
          </a:p>
        </p:txBody>
      </p:sp>
    </p:spTree>
    <p:extLst>
      <p:ext uri="{BB962C8B-B14F-4D97-AF65-F5344CB8AC3E}">
        <p14:creationId xmlns:p14="http://schemas.microsoft.com/office/powerpoint/2010/main" val="2973725460"/>
      </p:ext>
    </p:extLst>
  </p:cSld>
  <p:clrMapOvr>
    <a:masterClrMapping/>
  </p:clrMapOvr>
  <p:transition spd="med">
    <p:pull/>
  </p:transition>
  <p:extLst>
    <p:ext uri="{6950BFC3-D8DA-4A85-94F7-54DA5524770B}">
      <p188:commentRel xmlns:p188="http://schemas.microsoft.com/office/powerpoint/2018/8/main" r:id="rId2"/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00CD9D4-E055-0156-AE3F-ADC487A7063F}"/>
              </a:ext>
            </a:extLst>
          </p:cNvPr>
          <p:cNvSpPr txBox="1"/>
          <p:nvPr/>
        </p:nvSpPr>
        <p:spPr>
          <a:xfrm>
            <a:off x="554107" y="431560"/>
            <a:ext cx="690024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 az engedélyezés célja?</a:t>
            </a:r>
            <a:endParaRPr lang="en-SK" sz="4400" dirty="0">
              <a:solidFill>
                <a:schemeClr val="bg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29ECFE-8918-CC38-0922-3B3D2D0F736B}"/>
              </a:ext>
            </a:extLst>
          </p:cNvPr>
          <p:cNvSpPr/>
          <p:nvPr/>
        </p:nvSpPr>
        <p:spPr>
          <a:xfrm>
            <a:off x="554107" y="1201001"/>
            <a:ext cx="6900242" cy="1308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K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9799E0-F98B-4E6D-7B7F-7147A3E130BA}"/>
              </a:ext>
            </a:extLst>
          </p:cNvPr>
          <p:cNvSpPr txBox="1"/>
          <p:nvPr/>
        </p:nvSpPr>
        <p:spPr>
          <a:xfrm>
            <a:off x="554107" y="2361049"/>
            <a:ext cx="8132693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Jogosulatlan hozzáférés megakadályozása</a:t>
            </a:r>
          </a:p>
          <a:p>
            <a:endParaRPr lang="hu-HU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Hálózati szabályok érvényesítése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Legkisebb szükséges jogosultság elvének biztosítása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Érzékeny adatok védelme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783316-A29D-1D1A-441F-5F6464542A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0076" y="226905"/>
            <a:ext cx="1536700" cy="17653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ABC4547-8DFF-4F4F-F228-34D8BE8C72B8}"/>
              </a:ext>
            </a:extLst>
          </p:cNvPr>
          <p:cNvSpPr txBox="1"/>
          <p:nvPr/>
        </p:nvSpPr>
        <p:spPr>
          <a:xfrm>
            <a:off x="10370118" y="1952015"/>
            <a:ext cx="156754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K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Authorization</a:t>
            </a:r>
            <a:endParaRPr lang="en-SK" sz="1600" dirty="0"/>
          </a:p>
        </p:txBody>
      </p:sp>
    </p:spTree>
    <p:extLst>
      <p:ext uri="{BB962C8B-B14F-4D97-AF65-F5344CB8AC3E}">
        <p14:creationId xmlns:p14="http://schemas.microsoft.com/office/powerpoint/2010/main" val="3896797272"/>
      </p:ext>
    </p:extLst>
  </p:cSld>
  <p:clrMapOvr>
    <a:masterClrMapping/>
  </p:clrMapOvr>
  <p:transition spd="med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00CD9D4-E055-0156-AE3F-ADC487A7063F}"/>
              </a:ext>
            </a:extLst>
          </p:cNvPr>
          <p:cNvSpPr txBox="1"/>
          <p:nvPr/>
        </p:nvSpPr>
        <p:spPr>
          <a:xfrm>
            <a:off x="554107" y="431559"/>
            <a:ext cx="971301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Hozzáférés-vezérlési módszerek</a:t>
            </a:r>
            <a:endParaRPr lang="en-SK" sz="4400" dirty="0">
              <a:solidFill>
                <a:schemeClr val="bg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29ECFE-8918-CC38-0922-3B3D2D0F736B}"/>
              </a:ext>
            </a:extLst>
          </p:cNvPr>
          <p:cNvSpPr/>
          <p:nvPr/>
        </p:nvSpPr>
        <p:spPr>
          <a:xfrm>
            <a:off x="554107" y="1201000"/>
            <a:ext cx="7665554" cy="1210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K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9799E0-F98B-4E6D-7B7F-7147A3E130BA}"/>
              </a:ext>
            </a:extLst>
          </p:cNvPr>
          <p:cNvSpPr txBox="1"/>
          <p:nvPr/>
        </p:nvSpPr>
        <p:spPr>
          <a:xfrm>
            <a:off x="554107" y="2290569"/>
            <a:ext cx="8132693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ACL (Access </a:t>
            </a:r>
            <a:r>
              <a:rPr lang="hu-HU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</a:t>
            </a:r>
            <a:r>
              <a:rPr lang="hu-HU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List)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RBAC (</a:t>
            </a:r>
            <a:r>
              <a:rPr lang="hu-HU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Role-Based</a:t>
            </a:r>
            <a:r>
              <a:rPr lang="hu-HU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Access </a:t>
            </a:r>
            <a:r>
              <a:rPr lang="hu-HU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</a:t>
            </a:r>
            <a:r>
              <a:rPr lang="hu-HU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Házirend alapú vezérlés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Központi AAA szerver alkalmazása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783316-A29D-1D1A-441F-5F6464542A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0076" y="226905"/>
            <a:ext cx="1536700" cy="17653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ABC4547-8DFF-4F4F-F228-34D8BE8C72B8}"/>
              </a:ext>
            </a:extLst>
          </p:cNvPr>
          <p:cNvSpPr txBox="1"/>
          <p:nvPr/>
        </p:nvSpPr>
        <p:spPr>
          <a:xfrm>
            <a:off x="10370118" y="1952015"/>
            <a:ext cx="156754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K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Authorization</a:t>
            </a:r>
            <a:endParaRPr lang="en-SK" sz="1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A8C545-856E-B58F-A5CB-3B8D52147F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0331" y="2693773"/>
            <a:ext cx="3455219" cy="3434855"/>
          </a:xfrm>
          <a:prstGeom prst="rect">
            <a:avLst/>
          </a:prstGeom>
          <a:effectLst>
            <a:softEdge rad="199044"/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581B12C-DFBE-4B29-9EF5-AED7F8A8A48F}"/>
              </a:ext>
            </a:extLst>
          </p:cNvPr>
          <p:cNvSpPr txBox="1"/>
          <p:nvPr/>
        </p:nvSpPr>
        <p:spPr>
          <a:xfrm>
            <a:off x="8219661" y="6087887"/>
            <a:ext cx="191295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K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Access Control List</a:t>
            </a:r>
            <a:endParaRPr lang="en-SK" sz="1600" dirty="0"/>
          </a:p>
        </p:txBody>
      </p:sp>
    </p:spTree>
    <p:extLst>
      <p:ext uri="{BB962C8B-B14F-4D97-AF65-F5344CB8AC3E}">
        <p14:creationId xmlns:p14="http://schemas.microsoft.com/office/powerpoint/2010/main" val="2895110330"/>
      </p:ext>
    </p:extLst>
  </p:cSld>
  <p:clrMapOvr>
    <a:masterClrMapping/>
  </p:clrMapOvr>
  <p:transition spd="med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00CD9D4-E055-0156-AE3F-ADC487A7063F}"/>
              </a:ext>
            </a:extLst>
          </p:cNvPr>
          <p:cNvSpPr txBox="1"/>
          <p:nvPr/>
        </p:nvSpPr>
        <p:spPr>
          <a:xfrm>
            <a:off x="554107" y="431559"/>
            <a:ext cx="206552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Példák</a:t>
            </a:r>
            <a:endParaRPr lang="en-SK" sz="4400" dirty="0">
              <a:solidFill>
                <a:schemeClr val="bg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29ECFE-8918-CC38-0922-3B3D2D0F736B}"/>
              </a:ext>
            </a:extLst>
          </p:cNvPr>
          <p:cNvSpPr/>
          <p:nvPr/>
        </p:nvSpPr>
        <p:spPr>
          <a:xfrm>
            <a:off x="554107" y="1201001"/>
            <a:ext cx="2337374" cy="1260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K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9799E0-F98B-4E6D-7B7F-7147A3E130BA}"/>
              </a:ext>
            </a:extLst>
          </p:cNvPr>
          <p:cNvSpPr txBox="1"/>
          <p:nvPr/>
        </p:nvSpPr>
        <p:spPr>
          <a:xfrm>
            <a:off x="554107" y="2121292"/>
            <a:ext cx="8132693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Junior hálózati mérnök hozzáfér egy ezközhöz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Csak megjelenítő (show) parancsok futtatása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Konfiguráció módosítására nincs jogosultsága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Engedélyezési rendszer korlátozza a műveleteket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783316-A29D-1D1A-441F-5F6464542A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0076" y="226905"/>
            <a:ext cx="1536700" cy="17653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ABC4547-8DFF-4F4F-F228-34D8BE8C72B8}"/>
              </a:ext>
            </a:extLst>
          </p:cNvPr>
          <p:cNvSpPr txBox="1"/>
          <p:nvPr/>
        </p:nvSpPr>
        <p:spPr>
          <a:xfrm>
            <a:off x="10370118" y="1952015"/>
            <a:ext cx="156754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K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Authorization</a:t>
            </a:r>
            <a:endParaRPr lang="en-SK" sz="1600" dirty="0"/>
          </a:p>
        </p:txBody>
      </p:sp>
    </p:spTree>
    <p:extLst>
      <p:ext uri="{BB962C8B-B14F-4D97-AF65-F5344CB8AC3E}">
        <p14:creationId xmlns:p14="http://schemas.microsoft.com/office/powerpoint/2010/main" val="3630896021"/>
      </p:ext>
    </p:extLst>
  </p:cSld>
  <p:clrMapOvr>
    <a:masterClrMapping/>
  </p:clrMapOvr>
  <p:transition spd="med">
    <p:pul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00CD9D4-E055-0156-AE3F-ADC487A7063F}"/>
              </a:ext>
            </a:extLst>
          </p:cNvPr>
          <p:cNvSpPr txBox="1"/>
          <p:nvPr/>
        </p:nvSpPr>
        <p:spPr>
          <a:xfrm>
            <a:off x="554107" y="431559"/>
            <a:ext cx="884526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Központi engedélyezési </a:t>
            </a:r>
            <a:r>
              <a:rPr lang="hu-HU" sz="4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protokolok</a:t>
            </a:r>
            <a:endParaRPr lang="en-SK" sz="44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9799E0-F98B-4E6D-7B7F-7147A3E130BA}"/>
              </a:ext>
            </a:extLst>
          </p:cNvPr>
          <p:cNvSpPr txBox="1"/>
          <p:nvPr/>
        </p:nvSpPr>
        <p:spPr>
          <a:xfrm>
            <a:off x="554106" y="2290569"/>
            <a:ext cx="8132693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RADIUS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Hitelesítés és engedélyezés együtt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Gyakori VPN használat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hu-HU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hu-HU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TAKACS+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Hitelesítés és engedélyezés külön kezelve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Részletes parancsszintű szabályzás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783316-A29D-1D1A-441F-5F6464542A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0076" y="226905"/>
            <a:ext cx="1536700" cy="17653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ABC4547-8DFF-4F4F-F228-34D8BE8C72B8}"/>
              </a:ext>
            </a:extLst>
          </p:cNvPr>
          <p:cNvSpPr txBox="1"/>
          <p:nvPr/>
        </p:nvSpPr>
        <p:spPr>
          <a:xfrm>
            <a:off x="10370118" y="1952015"/>
            <a:ext cx="156754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K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Authorization</a:t>
            </a:r>
            <a:endParaRPr lang="en-SK" sz="16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807274C-8E97-5622-B76A-5C6D7E55B533}"/>
              </a:ext>
            </a:extLst>
          </p:cNvPr>
          <p:cNvSpPr/>
          <p:nvPr/>
        </p:nvSpPr>
        <p:spPr>
          <a:xfrm>
            <a:off x="554106" y="1200222"/>
            <a:ext cx="8696985" cy="1260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K"/>
          </a:p>
        </p:txBody>
      </p:sp>
    </p:spTree>
    <p:extLst>
      <p:ext uri="{BB962C8B-B14F-4D97-AF65-F5344CB8AC3E}">
        <p14:creationId xmlns:p14="http://schemas.microsoft.com/office/powerpoint/2010/main" val="3525981656"/>
      </p:ext>
    </p:extLst>
  </p:cSld>
  <p:clrMapOvr>
    <a:masterClrMapping/>
  </p:clrMapOvr>
  <p:transition spd="med">
    <p:pull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00CD9D4-E055-0156-AE3F-ADC487A7063F}"/>
              </a:ext>
            </a:extLst>
          </p:cNvPr>
          <p:cNvSpPr txBox="1"/>
          <p:nvPr/>
        </p:nvSpPr>
        <p:spPr>
          <a:xfrm>
            <a:off x="554107" y="431559"/>
            <a:ext cx="676933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Accounting (Naplózás)</a:t>
            </a:r>
            <a:endParaRPr lang="en-SK" sz="44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9799E0-F98B-4E6D-7B7F-7147A3E130BA}"/>
              </a:ext>
            </a:extLst>
          </p:cNvPr>
          <p:cNvSpPr txBox="1"/>
          <p:nvPr/>
        </p:nvSpPr>
        <p:spPr>
          <a:xfrm>
            <a:off x="554107" y="1815144"/>
            <a:ext cx="8132693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 az Accounting szerepe?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felhasználói tevékenység rögzítése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Hozzáférési események dokumentálása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Biztonsági események követhetősége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Átláthatóság és elszámolhatóság biztosítása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hu-HU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hu-HU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Kérdések</a:t>
            </a:r>
            <a:endParaRPr lang="hu-HU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Mit csinált?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Mikor?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Mennyi ideig?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Milyen erőforrásokat használt?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783316-A29D-1D1A-441F-5F6464542A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70118" y="196116"/>
            <a:ext cx="1529979" cy="182080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ABC4547-8DFF-4F4F-F228-34D8BE8C72B8}"/>
              </a:ext>
            </a:extLst>
          </p:cNvPr>
          <p:cNvSpPr txBox="1"/>
          <p:nvPr/>
        </p:nvSpPr>
        <p:spPr>
          <a:xfrm>
            <a:off x="10332554" y="1952015"/>
            <a:ext cx="156754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K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Accounting</a:t>
            </a:r>
            <a:endParaRPr lang="en-SK" sz="16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3D2299-5D3A-7C0C-8AE1-E13BC0A872B8}"/>
              </a:ext>
            </a:extLst>
          </p:cNvPr>
          <p:cNvSpPr/>
          <p:nvPr/>
        </p:nvSpPr>
        <p:spPr>
          <a:xfrm>
            <a:off x="554107" y="1191984"/>
            <a:ext cx="6365677" cy="1260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K" dirty="0"/>
          </a:p>
        </p:txBody>
      </p:sp>
    </p:spTree>
    <p:extLst>
      <p:ext uri="{BB962C8B-B14F-4D97-AF65-F5344CB8AC3E}">
        <p14:creationId xmlns:p14="http://schemas.microsoft.com/office/powerpoint/2010/main" val="329735288"/>
      </p:ext>
    </p:extLst>
  </p:cSld>
  <p:clrMapOvr>
    <a:masterClrMapping/>
  </p:clrMapOvr>
  <p:transition spd="med">
    <p:pull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00CD9D4-E055-0156-AE3F-ADC487A7063F}"/>
              </a:ext>
            </a:extLst>
          </p:cNvPr>
          <p:cNvSpPr txBox="1"/>
          <p:nvPr/>
        </p:nvSpPr>
        <p:spPr>
          <a:xfrm>
            <a:off x="554107" y="431559"/>
            <a:ext cx="840866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Mit rögzít pontosan a naplózás </a:t>
            </a:r>
            <a:endParaRPr lang="en-SK" sz="44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9799E0-F98B-4E6D-7B7F-7147A3E130BA}"/>
              </a:ext>
            </a:extLst>
          </p:cNvPr>
          <p:cNvSpPr txBox="1"/>
          <p:nvPr/>
        </p:nvSpPr>
        <p:spPr>
          <a:xfrm>
            <a:off x="554107" y="1573074"/>
            <a:ext cx="5541893" cy="4647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Bejelentkezési és kijelentkezési idő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Sikertelen bejelentkezési próbálkozások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Használt IP-cím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Elért erőforrások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Végrehajtott műveletek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Konfigurációs változtatások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Hálózati forgalom mennyisége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Típusok: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Hálózati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Rendszer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Alkalmazás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Biztonsági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783316-A29D-1D1A-441F-5F6464542A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70118" y="196116"/>
            <a:ext cx="1529979" cy="182080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ABC4547-8DFF-4F4F-F228-34D8BE8C72B8}"/>
              </a:ext>
            </a:extLst>
          </p:cNvPr>
          <p:cNvSpPr txBox="1"/>
          <p:nvPr/>
        </p:nvSpPr>
        <p:spPr>
          <a:xfrm>
            <a:off x="10332554" y="1952015"/>
            <a:ext cx="156754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K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Accounting</a:t>
            </a:r>
            <a:endParaRPr lang="en-SK" sz="16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3D2299-5D3A-7C0C-8AE1-E13BC0A872B8}"/>
              </a:ext>
            </a:extLst>
          </p:cNvPr>
          <p:cNvSpPr/>
          <p:nvPr/>
        </p:nvSpPr>
        <p:spPr>
          <a:xfrm>
            <a:off x="554107" y="1191984"/>
            <a:ext cx="7930866" cy="1223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K" dirty="0"/>
          </a:p>
        </p:txBody>
      </p:sp>
    </p:spTree>
    <p:extLst>
      <p:ext uri="{BB962C8B-B14F-4D97-AF65-F5344CB8AC3E}">
        <p14:creationId xmlns:p14="http://schemas.microsoft.com/office/powerpoint/2010/main" val="3487416589"/>
      </p:ext>
    </p:extLst>
  </p:cSld>
  <p:clrMapOvr>
    <a:masterClrMapping/>
  </p:clrMapOvr>
  <p:transition spd="med">
    <p:pull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00CD9D4-E055-0156-AE3F-ADC487A7063F}"/>
              </a:ext>
            </a:extLst>
          </p:cNvPr>
          <p:cNvSpPr txBox="1"/>
          <p:nvPr/>
        </p:nvSpPr>
        <p:spPr>
          <a:xfrm>
            <a:off x="554107" y="431559"/>
            <a:ext cx="840866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 Fájlok</a:t>
            </a:r>
            <a:endParaRPr lang="en-SK" sz="44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9799E0-F98B-4E6D-7B7F-7147A3E130BA}"/>
              </a:ext>
            </a:extLst>
          </p:cNvPr>
          <p:cNvSpPr txBox="1"/>
          <p:nvPr/>
        </p:nvSpPr>
        <p:spPr>
          <a:xfrm>
            <a:off x="554107" y="1573074"/>
            <a:ext cx="5846693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 Fájl: Események rögzítése időrendben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Automatikusan generáltak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Cél: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Eseménykövetés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Hibakezelés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Biztonsági ellenőrzés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Incidensvizsgálat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hu-H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Tartalmazhat: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Timestamp</a:t>
            </a:r>
            <a:endParaRPr lang="hu-H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Esemény típusa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Felhasználónév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IP-cím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Művelet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Státusz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783316-A29D-1D1A-441F-5F6464542A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70118" y="196116"/>
            <a:ext cx="1529979" cy="182080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ABC4547-8DFF-4F4F-F228-34D8BE8C72B8}"/>
              </a:ext>
            </a:extLst>
          </p:cNvPr>
          <p:cNvSpPr txBox="1"/>
          <p:nvPr/>
        </p:nvSpPr>
        <p:spPr>
          <a:xfrm>
            <a:off x="10332554" y="1952015"/>
            <a:ext cx="156754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K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Accounting</a:t>
            </a:r>
            <a:endParaRPr lang="en-SK" sz="16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2EDAF5-A7FF-0196-EEC3-CD9673305F7B}"/>
              </a:ext>
            </a:extLst>
          </p:cNvPr>
          <p:cNvSpPr/>
          <p:nvPr/>
        </p:nvSpPr>
        <p:spPr>
          <a:xfrm>
            <a:off x="554107" y="1201001"/>
            <a:ext cx="3268250" cy="1260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K"/>
          </a:p>
        </p:txBody>
      </p:sp>
    </p:spTree>
    <p:extLst>
      <p:ext uri="{BB962C8B-B14F-4D97-AF65-F5344CB8AC3E}">
        <p14:creationId xmlns:p14="http://schemas.microsoft.com/office/powerpoint/2010/main" val="1048010322"/>
      </p:ext>
    </p:extLst>
  </p:cSld>
  <p:clrMapOvr>
    <a:masterClrMapping/>
  </p:clrMapOvr>
  <p:transition spd="med">
    <p:pull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5C2BB05-AC66-C214-0C9C-D8D1F1CDA8EB}"/>
              </a:ext>
            </a:extLst>
          </p:cNvPr>
          <p:cNvSpPr txBox="1"/>
          <p:nvPr/>
        </p:nvSpPr>
        <p:spPr>
          <a:xfrm>
            <a:off x="423005" y="5186074"/>
            <a:ext cx="113459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2026-02-15 10:32:14 AUTH_SUCCESS user=</a:t>
            </a:r>
            <a:r>
              <a:rPr lang="en-GB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david</a:t>
            </a:r>
            <a:r>
              <a:rPr lang="en-GB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GB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=192.168.1.25 method=password</a:t>
            </a:r>
          </a:p>
          <a:p>
            <a:r>
              <a:rPr lang="en-GB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2026-02-15 10:35:02 AUTH_FAILURE user=</a:t>
            </a:r>
            <a:r>
              <a:rPr lang="en-GB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david</a:t>
            </a:r>
            <a:r>
              <a:rPr lang="en-GB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GB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=192.168.1.25 reason=</a:t>
            </a:r>
            <a:r>
              <a:rPr lang="en-GB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wrong_password</a:t>
            </a:r>
            <a:endParaRPr lang="en-GB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2026-02-15 10:40:11 ACCESS_GRANTED user=</a:t>
            </a:r>
            <a:r>
              <a:rPr lang="en-GB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david</a:t>
            </a:r>
            <a:r>
              <a:rPr lang="en-GB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resource=/</a:t>
            </a:r>
            <a:r>
              <a:rPr lang="en-GB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admin_panel</a:t>
            </a:r>
            <a:r>
              <a:rPr lang="en-GB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role=admin</a:t>
            </a:r>
          </a:p>
          <a:p>
            <a:r>
              <a:rPr lang="en-GB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2026-02-15 10:55:47 LOGOUT user=</a:t>
            </a:r>
            <a:r>
              <a:rPr lang="en-GB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david</a:t>
            </a:r>
            <a:r>
              <a:rPr lang="en-GB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session_id</a:t>
            </a:r>
            <a:r>
              <a:rPr lang="en-GB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=784512</a:t>
            </a:r>
            <a:endParaRPr lang="en-SK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068E14C-96B3-D187-19CB-F86178CB1A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888" y="1005016"/>
            <a:ext cx="6307241" cy="342694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66283F9-5E0A-2416-8DB4-50CEDBB098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3333" y="471597"/>
            <a:ext cx="4875662" cy="442835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67108464"/>
      </p:ext>
    </p:extLst>
  </p:cSld>
  <p:clrMapOvr>
    <a:masterClrMapping/>
  </p:clrMapOvr>
  <p:transition spd="med">
    <p:pull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00CD9D4-E055-0156-AE3F-ADC487A7063F}"/>
              </a:ext>
            </a:extLst>
          </p:cNvPr>
          <p:cNvSpPr txBox="1"/>
          <p:nvPr/>
        </p:nvSpPr>
        <p:spPr>
          <a:xfrm>
            <a:off x="554107" y="431559"/>
            <a:ext cx="840866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Miért fontos?</a:t>
            </a:r>
            <a:endParaRPr lang="en-SK" sz="44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9799E0-F98B-4E6D-7B7F-7147A3E130BA}"/>
              </a:ext>
            </a:extLst>
          </p:cNvPr>
          <p:cNvSpPr txBox="1"/>
          <p:nvPr/>
        </p:nvSpPr>
        <p:spPr>
          <a:xfrm>
            <a:off x="554107" y="1952015"/>
            <a:ext cx="5541893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Bejelentkezési és kijelentkezési idő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Sikertelen bejelentkezési próbálkozások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Használt IP-cím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Elért erőforrások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Végrehajtott műveletek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Konfigurációs változtatások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Hálózati forgalom mennyisége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783316-A29D-1D1A-441F-5F6464542A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70118" y="196116"/>
            <a:ext cx="1529979" cy="182080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ABC4547-8DFF-4F4F-F228-34D8BE8C72B8}"/>
              </a:ext>
            </a:extLst>
          </p:cNvPr>
          <p:cNvSpPr txBox="1"/>
          <p:nvPr/>
        </p:nvSpPr>
        <p:spPr>
          <a:xfrm>
            <a:off x="10332554" y="1952015"/>
            <a:ext cx="156754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K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Accounting</a:t>
            </a:r>
            <a:endParaRPr lang="en-SK" sz="16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F1EE04-019F-7FB9-A2CC-9C7DFB09F71D}"/>
              </a:ext>
            </a:extLst>
          </p:cNvPr>
          <p:cNvSpPr/>
          <p:nvPr/>
        </p:nvSpPr>
        <p:spPr>
          <a:xfrm>
            <a:off x="554107" y="1201000"/>
            <a:ext cx="3415124" cy="1223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K"/>
          </a:p>
        </p:txBody>
      </p:sp>
    </p:spTree>
    <p:extLst>
      <p:ext uri="{BB962C8B-B14F-4D97-AF65-F5344CB8AC3E}">
        <p14:creationId xmlns:p14="http://schemas.microsoft.com/office/powerpoint/2010/main" val="1364864421"/>
      </p:ext>
    </p:extLst>
  </p:cSld>
  <p:clrMapOvr>
    <a:masterClrMapping/>
  </p:clrMapOvr>
  <p:transition spd="med">
    <p:pull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00CD9D4-E055-0156-AE3F-ADC487A7063F}"/>
              </a:ext>
            </a:extLst>
          </p:cNvPr>
          <p:cNvSpPr txBox="1"/>
          <p:nvPr/>
        </p:nvSpPr>
        <p:spPr>
          <a:xfrm>
            <a:off x="554107" y="431559"/>
            <a:ext cx="840866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Példa egy incidensre</a:t>
            </a:r>
            <a:endParaRPr lang="en-SK" sz="44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9799E0-F98B-4E6D-7B7F-7147A3E130BA}"/>
              </a:ext>
            </a:extLst>
          </p:cNvPr>
          <p:cNvSpPr txBox="1"/>
          <p:nvPr/>
        </p:nvSpPr>
        <p:spPr>
          <a:xfrm>
            <a:off x="554107" y="1952015"/>
            <a:ext cx="5541893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Szituáció: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Gyanús adatletöltés történt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endParaRPr lang="hu-HU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Accounting segítségével: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Azonosítható a felhasználó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Megállapítható az időpont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Látható az érintett fájl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Követhető az IP-cím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783316-A29D-1D1A-441F-5F6464542A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70118" y="196116"/>
            <a:ext cx="1529979" cy="182080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ABC4547-8DFF-4F4F-F228-34D8BE8C72B8}"/>
              </a:ext>
            </a:extLst>
          </p:cNvPr>
          <p:cNvSpPr txBox="1"/>
          <p:nvPr/>
        </p:nvSpPr>
        <p:spPr>
          <a:xfrm>
            <a:off x="10332554" y="1952015"/>
            <a:ext cx="156754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K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Accounting</a:t>
            </a:r>
            <a:endParaRPr lang="en-SK" sz="16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0E69309-A58A-3BFE-DC76-DC2E3E8F45E1}"/>
              </a:ext>
            </a:extLst>
          </p:cNvPr>
          <p:cNvSpPr/>
          <p:nvPr/>
        </p:nvSpPr>
        <p:spPr>
          <a:xfrm>
            <a:off x="554107" y="1191984"/>
            <a:ext cx="6365677" cy="1260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K" dirty="0"/>
          </a:p>
        </p:txBody>
      </p:sp>
    </p:spTree>
    <p:extLst>
      <p:ext uri="{BB962C8B-B14F-4D97-AF65-F5344CB8AC3E}">
        <p14:creationId xmlns:p14="http://schemas.microsoft.com/office/powerpoint/2010/main" val="2241960622"/>
      </p:ext>
    </p:extLst>
  </p:cSld>
  <p:clrMapOvr>
    <a:masterClrMapping/>
  </p:clrMapOvr>
  <p:transition spd="med">
    <p:pull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00CD9D4-E055-0156-AE3F-ADC487A7063F}"/>
              </a:ext>
            </a:extLst>
          </p:cNvPr>
          <p:cNvSpPr txBox="1"/>
          <p:nvPr/>
        </p:nvSpPr>
        <p:spPr>
          <a:xfrm>
            <a:off x="554107" y="431559"/>
            <a:ext cx="840866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4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Protokolok</a:t>
            </a:r>
            <a:r>
              <a:rPr lang="hu-HU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AAA-</a:t>
            </a:r>
            <a:r>
              <a:rPr lang="hu-HU" sz="4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endParaRPr lang="en-SK" sz="44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9799E0-F98B-4E6D-7B7F-7147A3E130BA}"/>
              </a:ext>
            </a:extLst>
          </p:cNvPr>
          <p:cNvSpPr txBox="1"/>
          <p:nvPr/>
        </p:nvSpPr>
        <p:spPr>
          <a:xfrm>
            <a:off x="554107" y="1952015"/>
            <a:ext cx="5117119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Leggyakrabban használt </a:t>
            </a:r>
            <a:r>
              <a:rPr lang="hu-HU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protokolok</a:t>
            </a:r>
            <a:r>
              <a:rPr lang="hu-H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hu-HU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RADIUS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hu-HU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TAKACS+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hu-HU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Diameter</a:t>
            </a:r>
            <a:endParaRPr lang="hu-HU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0E69309-A58A-3BFE-DC76-DC2E3E8F45E1}"/>
              </a:ext>
            </a:extLst>
          </p:cNvPr>
          <p:cNvSpPr/>
          <p:nvPr/>
        </p:nvSpPr>
        <p:spPr>
          <a:xfrm>
            <a:off x="554107" y="1191983"/>
            <a:ext cx="5000387" cy="1381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K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30E4D4-7BEB-B5A4-2E91-ACD5B3111E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9315" y="639477"/>
            <a:ext cx="4807064" cy="209885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D295300-A141-E88B-06B8-12D586D046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4174" y="2946254"/>
            <a:ext cx="5577345" cy="141537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41D8156-F53B-481B-7BB1-962AFC95F1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5778" y="4586849"/>
            <a:ext cx="5074136" cy="183959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65427736"/>
      </p:ext>
    </p:extLst>
  </p:cSld>
  <p:clrMapOvr>
    <a:masterClrMapping/>
  </p:clrMapOvr>
  <p:transition spd="med">
    <p:pull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00CD9D4-E055-0156-AE3F-ADC487A7063F}"/>
              </a:ext>
            </a:extLst>
          </p:cNvPr>
          <p:cNvSpPr txBox="1"/>
          <p:nvPr/>
        </p:nvSpPr>
        <p:spPr>
          <a:xfrm>
            <a:off x="554107" y="431559"/>
            <a:ext cx="840866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Hivatkozások</a:t>
            </a:r>
            <a:endParaRPr lang="en-SK" sz="4400" dirty="0">
              <a:solidFill>
                <a:schemeClr val="bg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0E69309-A58A-3BFE-DC76-DC2E3E8F45E1}"/>
              </a:ext>
            </a:extLst>
          </p:cNvPr>
          <p:cNvSpPr/>
          <p:nvPr/>
        </p:nvSpPr>
        <p:spPr>
          <a:xfrm>
            <a:off x="554107" y="1175340"/>
            <a:ext cx="3713093" cy="1170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K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7A435AE-6B7B-A930-EA17-2B7459F5C5A4}"/>
              </a:ext>
            </a:extLst>
          </p:cNvPr>
          <p:cNvSpPr txBox="1"/>
          <p:nvPr/>
        </p:nvSpPr>
        <p:spPr>
          <a:xfrm>
            <a:off x="554107" y="1385181"/>
            <a:ext cx="10113893" cy="5801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u-HU" u="sng" dirty="0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https://www.tmit.bme.hu/sites/default/files/RelNetik_20180918_InfSecurity.pdf</a:t>
            </a:r>
            <a:endParaRPr lang="hu-HU" dirty="0">
              <a:solidFill>
                <a:schemeClr val="bg1"/>
              </a:solidFill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u-HU" u="sng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https://noreg.hu/megoldasaink/azonositas-es-jogosultsag-kezeles-9</a:t>
            </a:r>
            <a:endParaRPr lang="hu-HU" dirty="0">
              <a:solidFill>
                <a:schemeClr val="bg1"/>
              </a:solidFill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u-HU" u="sng" dirty="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https://www.fortinet.com/resources/cyberglossary/aaa-security</a:t>
            </a:r>
            <a:endParaRPr lang="hu-HU" dirty="0">
              <a:solidFill>
                <a:schemeClr val="bg1"/>
              </a:solidFill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u-HU" u="sng" dirty="0">
                <a:solidFill>
                  <a:schemeClr val="bg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https://www.strongdm.com/blog/aaa-security</a:t>
            </a:r>
            <a:endParaRPr lang="hu-HU" dirty="0">
              <a:solidFill>
                <a:schemeClr val="bg1"/>
              </a:solidFill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u-HU" u="sng" dirty="0">
                <a:solidFill>
                  <a:schemeClr val="bg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https://community.cisco.com/t5/networking-blogs/what-is-aaa-authentication-authorization-and-accounting/ba-p/5138307</a:t>
            </a:r>
            <a:endParaRPr lang="hu-HU" dirty="0">
              <a:solidFill>
                <a:schemeClr val="bg1"/>
              </a:solidFill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u-HU" u="sng" dirty="0">
                <a:solidFill>
                  <a:schemeClr val="bg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https://en.wikipedia.org/wiki/Authorization</a:t>
            </a:r>
            <a:endParaRPr lang="hu-HU" u="sng" dirty="0">
              <a:solidFill>
                <a:schemeClr val="bg1"/>
              </a:solidFill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u-HU" u="sng" dirty="0">
                <a:solidFill>
                  <a:schemeClr val="bg1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https://www.lenovo.com/us/en/glossary/aaa/</a:t>
            </a:r>
            <a:endParaRPr lang="hu-HU" dirty="0">
              <a:solidFill>
                <a:schemeClr val="bg1"/>
              </a:solidFill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u-HU" u="sng" dirty="0">
                <a:solidFill>
                  <a:schemeClr val="bg1"/>
                </a:solidFill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https://www.geeksforgeeks.org/computer-networks/computer-network-aaa-authentication-authorization-and-accounting/</a:t>
            </a:r>
            <a:endParaRPr lang="hu-HU" dirty="0">
              <a:solidFill>
                <a:schemeClr val="bg1"/>
              </a:solidFill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u-HU" dirty="0">
                <a:solidFill>
                  <a:schemeClr val="bg1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https://securiti.ai/glossary/aaa-server/</a:t>
            </a:r>
            <a:endParaRPr lang="hu-HU" dirty="0">
              <a:solidFill>
                <a:schemeClr val="bg1"/>
              </a:solidFill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u-HU" dirty="0">
                <a:solidFill>
                  <a:schemeClr val="bg1"/>
                </a:solidFill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https://nordlayer.com/blog/the-role-of-access-control-lists/</a:t>
            </a:r>
            <a:endParaRPr lang="hu-HU" dirty="0">
              <a:solidFill>
                <a:schemeClr val="bg1"/>
              </a:solidFill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u-HU" dirty="0">
                <a:solidFill>
                  <a:schemeClr val="bg1"/>
                </a:solidFill>
                <a:hlinkClick r:id="rId12"/>
              </a:rPr>
              <a:t>https://www.wiresandwi.fi/blog/solid-config-cisco-aaa-tacacs-and-password-best-practices</a:t>
            </a:r>
            <a:endParaRPr lang="hu-HU" dirty="0">
              <a:solidFill>
                <a:schemeClr val="bg1"/>
              </a:solidFill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u-HU" dirty="0">
                <a:solidFill>
                  <a:schemeClr val="bg1"/>
                </a:solidFill>
                <a:hlinkClick r:id="rId13"/>
              </a:rPr>
              <a:t>https://www.wallarm.com/what/radius-remote-authentication-dial-in-user-service-protocol</a:t>
            </a:r>
            <a:endParaRPr lang="hu-HU" dirty="0">
              <a:solidFill>
                <a:schemeClr val="bg1"/>
              </a:solidFill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u-HU" dirty="0">
                <a:solidFill>
                  <a:schemeClr val="bg1"/>
                </a:solidFill>
              </a:rPr>
              <a:t>https://</a:t>
            </a:r>
            <a:r>
              <a:rPr lang="hu-HU" dirty="0" err="1">
                <a:solidFill>
                  <a:schemeClr val="bg1"/>
                </a:solidFill>
              </a:rPr>
              <a:t>realtimecommunication.wordpress.com</a:t>
            </a:r>
            <a:r>
              <a:rPr lang="hu-HU" dirty="0">
                <a:solidFill>
                  <a:schemeClr val="bg1"/>
                </a:solidFill>
              </a:rPr>
              <a:t>/2016/08/30/</a:t>
            </a:r>
            <a:r>
              <a:rPr lang="hu-HU" dirty="0" err="1">
                <a:solidFill>
                  <a:schemeClr val="bg1"/>
                </a:solidFill>
              </a:rPr>
              <a:t>diameter-overview</a:t>
            </a:r>
            <a:r>
              <a:rPr lang="hu-HU" dirty="0">
                <a:solidFill>
                  <a:schemeClr val="bg1"/>
                </a:solidFill>
              </a:rPr>
              <a:t>/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hu-HU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4105509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310</TotalTime>
  <Words>632</Words>
  <Application>Microsoft Macintosh PowerPoint</Application>
  <PresentationFormat>Widescreen</PresentationFormat>
  <Paragraphs>213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Aptos</vt:lpstr>
      <vt:lpstr>Aptos Display</vt:lpstr>
      <vt:lpstr>Arial</vt:lpstr>
      <vt:lpstr>Courier New</vt:lpstr>
      <vt:lpstr>Times New Roman</vt:lpstr>
      <vt:lpstr>Office-téma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Krajcsovics Christofer</dc:creator>
  <cp:lastModifiedBy>david forro</cp:lastModifiedBy>
  <cp:revision>49</cp:revision>
  <dcterms:created xsi:type="dcterms:W3CDTF">2026-02-15T15:30:11Z</dcterms:created>
  <dcterms:modified xsi:type="dcterms:W3CDTF">2026-02-17T13:01:59Z</dcterms:modified>
</cp:coreProperties>
</file>